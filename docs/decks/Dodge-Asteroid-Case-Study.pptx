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0A3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50A35"/>
                </a:solidFill>
                <a:latin typeface="Calibri"/>
              </a:rPr>
              <a:t>Asteroid fall speed (px/s) by seconds survived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FF5FB4"/>
            </a:solidFill>
            <a:ln w="38100" cap="flat">
              <a:solidFill>
                <a:srgbClr val="FF5F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FB4"/>
              </a:solidFill>
              <a:ln w="9525" cap="flat">
                <a:solidFill>
                  <a:srgbClr val="FF5F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  <c:pt idx="12">
                    <c:v>24</c:v>
                  </c:pt>
                  <c:pt idx="13">
                    <c:v>26</c:v>
                  </c:pt>
                  <c:pt idx="14">
                    <c:v>28</c:v>
                  </c:pt>
                  <c:pt idx="15">
                    <c:v>30</c:v>
                  </c:pt>
                  <c:pt idx="16">
                    <c:v>32</c:v>
                  </c:pt>
                  <c:pt idx="17">
                    <c:v>34</c:v>
                  </c:pt>
                  <c:pt idx="18">
                    <c:v>36</c:v>
                  </c:pt>
                  <c:pt idx="19">
                    <c:v>38</c:v>
                  </c:pt>
                  <c:pt idx="20">
                    <c:v>40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360</c:v>
                </c:pt>
                <c:pt idx="1">
                  <c:v>428</c:v>
                </c:pt>
                <c:pt idx="2">
                  <c:v>508</c:v>
                </c:pt>
                <c:pt idx="3">
                  <c:v>604</c:v>
                </c:pt>
                <c:pt idx="4">
                  <c:v>717</c:v>
                </c:pt>
                <c:pt idx="5">
                  <c:v>852</c:v>
                </c:pt>
                <c:pt idx="6">
                  <c:v>1013</c:v>
                </c:pt>
                <c:pt idx="7">
                  <c:v>1203</c:v>
                </c:pt>
                <c:pt idx="8">
                  <c:v>1429</c:v>
                </c:pt>
                <c:pt idx="9">
                  <c:v>1698</c:v>
                </c:pt>
                <c:pt idx="10">
                  <c:v>2018</c:v>
                </c:pt>
                <c:pt idx="11">
                  <c:v>2397</c:v>
                </c:pt>
                <c:pt idx="12">
                  <c:v>2848</c:v>
                </c:pt>
                <c:pt idx="13">
                  <c:v>3384</c:v>
                </c:pt>
                <c:pt idx="14">
                  <c:v>4020</c:v>
                </c:pt>
                <c:pt idx="15">
                  <c:v>4776</c:v>
                </c:pt>
                <c:pt idx="16">
                  <c:v>5675</c:v>
                </c:pt>
                <c:pt idx="17">
                  <c:v>6742</c:v>
                </c:pt>
                <c:pt idx="18">
                  <c:v>8010</c:v>
                </c:pt>
                <c:pt idx="19">
                  <c:v>9517</c:v>
                </c:pt>
                <c:pt idx="20">
                  <c:v>11307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Rewrite</c:v>
                </c:pt>
              </c:strCache>
            </c:strRef>
          </c:tx>
          <c:spPr>
            <a:solidFill>
              <a:srgbClr val="8FCF2F"/>
            </a:solidFill>
            <a:ln w="38100" cap="flat">
              <a:solidFill>
                <a:srgbClr val="8FCF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FCF2F"/>
              </a:solidFill>
              <a:ln w="9525" cap="flat">
                <a:solidFill>
                  <a:srgbClr val="8FCF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  <c:pt idx="12">
                    <c:v>24</c:v>
                  </c:pt>
                  <c:pt idx="13">
                    <c:v>26</c:v>
                  </c:pt>
                  <c:pt idx="14">
                    <c:v>28</c:v>
                  </c:pt>
                  <c:pt idx="15">
                    <c:v>30</c:v>
                  </c:pt>
                  <c:pt idx="16">
                    <c:v>32</c:v>
                  </c:pt>
                  <c:pt idx="17">
                    <c:v>34</c:v>
                  </c:pt>
                  <c:pt idx="18">
                    <c:v>36</c:v>
                  </c:pt>
                  <c:pt idx="19">
                    <c:v>38</c:v>
                  </c:pt>
                  <c:pt idx="20">
                    <c:v>40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170</c:v>
                </c:pt>
                <c:pt idx="1">
                  <c:v>170</c:v>
                </c:pt>
                <c:pt idx="2">
                  <c:v>170</c:v>
                </c:pt>
                <c:pt idx="3">
                  <c:v>171</c:v>
                </c:pt>
                <c:pt idx="4">
                  <c:v>172</c:v>
                </c:pt>
                <c:pt idx="5">
                  <c:v>173</c:v>
                </c:pt>
                <c:pt idx="6">
                  <c:v>175</c:v>
                </c:pt>
                <c:pt idx="7">
                  <c:v>177</c:v>
                </c:pt>
                <c:pt idx="8">
                  <c:v>179</c:v>
                </c:pt>
                <c:pt idx="9">
                  <c:v>182</c:v>
                </c:pt>
                <c:pt idx="10">
                  <c:v>185</c:v>
                </c:pt>
                <c:pt idx="11">
                  <c:v>189</c:v>
                </c:pt>
                <c:pt idx="12">
                  <c:v>192</c:v>
                </c:pt>
                <c:pt idx="13">
                  <c:v>196</c:v>
                </c:pt>
                <c:pt idx="14">
                  <c:v>200</c:v>
                </c:pt>
                <c:pt idx="15">
                  <c:v>204</c:v>
                </c:pt>
                <c:pt idx="16">
                  <c:v>209</c:v>
                </c:pt>
                <c:pt idx="17">
                  <c:v>214</c:v>
                </c:pt>
                <c:pt idx="18">
                  <c:v>219</c:v>
                </c:pt>
                <c:pt idx="19">
                  <c:v>224</c:v>
                </c:pt>
                <c:pt idx="20">
                  <c:v>229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A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2B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A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4A3A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started as a jQuery prototype that did not work. This deck covers what was wrong, what I rebuilt, and what the result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commits, no history worth reading, and several code paths that threw at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these is quoted from the original source, not inferred.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single rule is what makes the whole simulation headless-testable.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line leaves the chart. The rewrite plateaus by design and is hard-capped so nothing can outrun continuous collision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Deliberate, stated scope reads as judgement. Chasing 100% coverage on a renderer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is measured from the repository, not estimated.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screenshots are generated by a script that plays the game, so they cannot drift from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by Mattathias Abraham.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868680"/>
            <a:ext cx="1005840" cy="1005840"/>
          </a:xfrm>
          <a:prstGeom prst="ellipse">
            <a:avLst/>
          </a:prstGeom>
          <a:solidFill>
            <a:srgbClr val="F2792A"/>
          </a:solidFill>
          <a:ln w="25400">
            <a:solidFill>
              <a:srgbClr val="0A06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2468880"/>
            <a:ext cx="548640" cy="548640"/>
          </a:xfrm>
          <a:prstGeom prst="ellipse">
            <a:avLst/>
          </a:prstGeom>
          <a:solidFill>
            <a:srgbClr val="FF5FB4"/>
          </a:solidFill>
          <a:ln w="25400">
            <a:solidFill>
              <a:srgbClr val="0A06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65792" y="3730752"/>
            <a:ext cx="402336" cy="402336"/>
          </a:xfrm>
          <a:prstGeom prst="ellipse">
            <a:avLst/>
          </a:prstGeom>
          <a:solidFill>
            <a:srgbClr val="8FCF2F"/>
          </a:solidFill>
          <a:ln w="25400">
            <a:solidFill>
              <a:srgbClr val="0A06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Dodge Asteroid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a broken hobby game into something worth shipping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 ·  Canvas 2D  ·  zero runtime dependencies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mattathiasa.github.io/Dodge-Asteroid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starting point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431 lines of jQuery, uploaded through the GitHub web UI in three commits all named "Add files via upload". It looked finished. It was not.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F6E6C8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8163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34564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called but never defined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265176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F6E6C8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28163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7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51960" y="34564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CI, README or licence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38912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F6E6C8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5537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C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KB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60120" y="51937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vendored jQuery, three CVEs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438912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F6E6C8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45537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251960" y="51937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game became unplayable</a:t>
            </a:r>
            <a:endParaRPr lang="en-US" sz="1200" dirty="0"/>
          </a:p>
        </p:txBody>
      </p:sp>
      <p:pic>
        <p:nvPicPr>
          <p:cNvPr id="16" name="Image 0" descr="/home/user/Dodge-Asteroid/docs/store/stor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0"/>
            <a:ext cx="277977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actually broken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04672" y="1554480"/>
            <a:ext cx="310896" cy="310896"/>
          </a:xfrm>
          <a:prstGeom prst="ellipse">
            <a:avLst/>
          </a:prstGeom>
          <a:solidFill>
            <a:srgbClr val="FF5FB4"/>
          </a:solidFill>
          <a:ln w="25400">
            <a:solidFill>
              <a:srgbClr val="0A06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25880" y="1325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0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pauseGame  ·  animateAsteroids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5880" y="170992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but never defined. The first threw during ready() and aborted the bindings after it; the second left Resume permanently broken.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4672" y="2788920"/>
            <a:ext cx="310896" cy="310896"/>
          </a:xfrm>
          <a:prstGeom prst="ellipse">
            <a:avLst/>
          </a:prstGeom>
          <a:solidFill>
            <a:srgbClr val="F2792A"/>
          </a:solidFill>
          <a:ln w="25400">
            <a:solidFill>
              <a:srgbClr val="0A06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560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0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isColliding()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94436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Ended in a bare return, so it always read false and gameOver() was unreachable. Game over was a blocking alert() fired from inside the collision test.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" y="4023360"/>
            <a:ext cx="310896" cy="310896"/>
          </a:xfrm>
          <a:prstGeom prst="ellipse">
            <a:avLst/>
          </a:prstGeom>
          <a:solidFill>
            <a:srgbClr val="4FF0FF"/>
          </a:solidFill>
          <a:ln w="25400">
            <a:solidFill>
              <a:srgbClr val="0A06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3794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0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 per asteroid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4178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timer created on every spawn, never cleared, assigning to the wrong this. A leak that did nothing.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" y="5257800"/>
            <a:ext cx="310896" cy="310896"/>
          </a:xfrm>
          <a:prstGeom prst="ellipse">
            <a:avLst/>
          </a:prstGeom>
          <a:solidFill>
            <a:srgbClr val="8FCF2F"/>
          </a:solidFill>
          <a:ln w="25400">
            <a:solidFill>
              <a:srgbClr val="0A06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5029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0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/= 1.09 per spawn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54132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with no upper bound. Mathematically unplayable about thirty seconds 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rule holds the design up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 and game/ never import from render/, input/, audio/ or the DOM.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F6E6C8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49424"/>
            <a:ext cx="384048" cy="384048"/>
          </a:xfrm>
          <a:prstGeom prst="ellipse">
            <a:avLst/>
          </a:prstGeom>
          <a:solidFill>
            <a:srgbClr val="4FF0FF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13055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46888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RNG · math · viewport geometry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F6E6C8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300984"/>
            <a:ext cx="384048" cy="384048"/>
          </a:xfrm>
          <a:prstGeom prst="ellipse">
            <a:avLst/>
          </a:prstGeom>
          <a:solidFill>
            <a:srgbClr val="8FCF2F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18211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game/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352044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· loop · collision · difficulty · spawning · scoring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F6E6C8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352544"/>
            <a:ext cx="384048" cy="384048"/>
          </a:xfrm>
          <a:prstGeom prst="ellipse">
            <a:avLst/>
          </a:prstGeom>
          <a:solidFill>
            <a:srgbClr val="FF5FB4"/>
          </a:solidFill>
          <a:ln w="25400">
            <a:solidFill>
              <a:srgbClr val="150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423367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render/ input/ audio/ ui/ storage/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57200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lives only out here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follow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63840" y="246888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are reproducible — a run is a pure function of its seed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are reported, not performed — the sim emits events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testable — fixed timestep, injectable clock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curve that broke the game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multiplied fall speed by a constant on every spawn, with no cap. The rewrite is a bounded smoothstep ramp: gentle, then steep, then flat.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965960"/>
          <a:ext cx="10698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0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tested — and what isn't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is a pure function of its seed, its input and its timestep. That is what the tests cover.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0A0620"/>
          </a:solidFill>
          <a:ln w="25400">
            <a:solidFill>
              <a:srgbClr val="4F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31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· collision · scoring · spawning · phases · loop · pools · storage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0A0620"/>
          </a:solidFill>
          <a:ln w="25400">
            <a:solidFill>
              <a:srgbClr val="8FCF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331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C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634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specs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36118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built game in Chromium and on an emulated phone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0A0620"/>
          </a:solidFill>
          <a:ln w="25400">
            <a:solidFill>
              <a:srgbClr val="F279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331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7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210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per run test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36118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 twice, asserted identical — that is how frame-rate independence is proved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draw calls and WebAudio graphs are not unit-tested. Asserting that ctx.arc ran 22 times is a test that only breaks when the visuals improve.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dependencies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74904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3.3.1, 86 KB, 3 CVEs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52360" y="1499616"/>
            <a:ext cx="182880" cy="182880"/>
          </a:xfrm>
          <a:prstGeom prst="ellipse">
            <a:avLst/>
          </a:prstGeom>
          <a:solidFill>
            <a:srgbClr val="F2792A"/>
          </a:solidFill>
          <a:ln w="12700">
            <a:solidFill>
              <a:srgbClr val="150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0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76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2176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52360" y="2304288"/>
            <a:ext cx="182880" cy="182880"/>
          </a:xfrm>
          <a:prstGeom prst="ellipse">
            <a:avLst/>
          </a:prstGeom>
          <a:solidFill>
            <a:srgbClr val="F2792A"/>
          </a:solidFill>
          <a:ln w="12700">
            <a:solidFill>
              <a:srgbClr val="150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21762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0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KB · 13 KB gzipped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9809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9809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3108960"/>
            <a:ext cx="182880" cy="182880"/>
          </a:xfrm>
          <a:prstGeom prst="ellipse">
            <a:avLst/>
          </a:prstGeom>
          <a:solidFill>
            <a:srgbClr val="F2792A"/>
          </a:solidFill>
          <a:ln w="12700">
            <a:solidFill>
              <a:srgbClr val="150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9809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0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unit · 12 end-to-end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7856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37856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52360" y="3913632"/>
            <a:ext cx="182880" cy="182880"/>
          </a:xfrm>
          <a:prstGeom prst="ellipse">
            <a:avLst/>
          </a:prstGeom>
          <a:solidFill>
            <a:srgbClr val="F2792A"/>
          </a:solidFill>
          <a:ln w="12700">
            <a:solidFill>
              <a:srgbClr val="150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37856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0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Typecheck, lint, format, test, build, deploy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590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4590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only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52360" y="4718304"/>
            <a:ext cx="182880" cy="182880"/>
          </a:xfrm>
          <a:prstGeom prst="ellipse">
            <a:avLst/>
          </a:prstGeom>
          <a:solidFill>
            <a:srgbClr val="F2792A"/>
          </a:solidFill>
          <a:ln w="12700">
            <a:solidFill>
              <a:srgbClr val="150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4590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0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Mouse, touch and keyboard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394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0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5394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alert(), stacked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52360" y="5522976"/>
            <a:ext cx="182880" cy="182880"/>
          </a:xfrm>
          <a:prstGeom prst="ellipse">
            <a:avLst/>
          </a:prstGeom>
          <a:solidFill>
            <a:srgbClr val="F2792A"/>
          </a:solidFill>
          <a:ln w="12700">
            <a:solidFill>
              <a:srgbClr val="150A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5394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0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In-page screen with a local leaderboard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0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3800" dirty="0"/>
          </a:p>
        </p:txBody>
      </p:sp>
      <p:pic>
        <p:nvPicPr>
          <p:cNvPr id="3" name="Image 0" descr="/home/user/Dodge-Asteroid/docs/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364992" cy="4846320"/>
          </a:xfrm>
          <a:prstGeom prst="rect">
            <a:avLst/>
          </a:prstGeom>
        </p:spPr>
      </p:pic>
      <p:pic>
        <p:nvPicPr>
          <p:cNvPr id="4" name="Image 1" descr="/home/user/Dodge-Asteroid/docs/game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80160"/>
            <a:ext cx="3364992" cy="4846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21040" y="17373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scoring with near-miss combos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Shield, slow-motion and extra-life pickups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difficulties and a local leaderboard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motion, ARIA announcements, focusable controls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synthesised at runtime — no binary assets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0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4663440"/>
            <a:ext cx="914400" cy="914400"/>
          </a:xfrm>
          <a:prstGeom prst="ellipse">
            <a:avLst/>
          </a:prstGeom>
          <a:solidFill>
            <a:srgbClr val="8FCF2F"/>
          </a:solidFill>
          <a:ln w="25400">
            <a:solidFill>
              <a:srgbClr val="0A06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14016" y="5522976"/>
            <a:ext cx="475488" cy="475488"/>
          </a:xfrm>
          <a:prstGeom prst="ellipse">
            <a:avLst/>
          </a:prstGeom>
          <a:solidFill>
            <a:srgbClr val="4FF0FF"/>
          </a:solidFill>
          <a:ln w="25400">
            <a:solidFill>
              <a:srgbClr val="0A06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it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mattathiasa.github.io/Dodge-Asteroid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github.com/Mattathiasa/Dodge-Asteroid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2026-08-25T11:37:28Z</dcterms:created>
  <dcterms:modified xsi:type="dcterms:W3CDTF">2026-08-25T11:37:28Z</dcterms:modified>
</cp:coreProperties>
</file>